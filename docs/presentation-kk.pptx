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D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3299817"/>
            <a:ext cx="5628084" cy="1308199"/>
          </a:xfrm>
          <a:prstGeom prst="roundRect">
            <a:avLst/>
          </a:prstGeom>
          <a:solidFill>
            <a:srgbClr val="20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9134" y="3299817"/>
            <a:ext cx="5211365" cy="1308199"/>
          </a:xfrm>
          <a:prstGeom prst="roundRect">
            <a:avLst/>
          </a:prstGeom>
          <a:solidFill>
            <a:srgbClr val="20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4836616"/>
            <a:ext cx="3159323" cy="304800"/>
          </a:xfrm>
          <a:prstGeom prst="roundRect">
            <a:avLst/>
          </a:prstGeom>
          <a:solidFill>
            <a:srgbClr val="2B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75" b="1">
                <a:solidFill>
                  <a:srgbClr val="FF7C84"/>
                </a:solidFill>
                <a:latin typeface="DejaVu Sans"/>
              </a:defRPr>
            </a:pPr>
            <a:r>
              <a:t>QOSTANAI AI INDUSTRY HACKATHON 2026 · №2 КЕЙС · ALLUR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885825"/>
            <a:ext cx="10477500" cy="13159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4956"/>
              </a:lnSpc>
              <a:spcBef>
                <a:spcPts val="0"/>
              </a:spcBef>
              <a:spcAft>
                <a:spcPts val="0"/>
              </a:spcAft>
              <a:defRPr sz="4425" b="1">
                <a:solidFill>
                  <a:srgbClr val="FFFFFF"/>
                </a:solidFill>
                <a:latin typeface="DejaVu Sans"/>
              </a:defRPr>
            </a:pPr>
            <a:r>
              <a:t>Өндіріс тоқтауын</a:t>
            </a:r>
          </a:p>
          <a:p>
            <a:pPr>
              <a:lnSpc>
                <a:spcPts val="4956"/>
              </a:lnSpc>
              <a:spcBef>
                <a:spcPts val="0"/>
              </a:spcBef>
              <a:spcAft>
                <a:spcPts val="0"/>
              </a:spcAft>
              <a:defRPr sz="4425" b="1">
                <a:solidFill>
                  <a:srgbClr val="FFFFFF"/>
                </a:solidFill>
                <a:latin typeface="DejaVu Sans"/>
              </a:defRPr>
            </a:pPr>
            <a:r>
              <a:t>алдын ала байқау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335113"/>
            <a:ext cx="9906000" cy="7361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673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BDC9D6"/>
                </a:solidFill>
                <a:latin typeface="DejaVu Sans"/>
              </a:defRPr>
            </a:pPr>
            <a:r>
              <a:t>Allur Plant Twin — өндірістік учаскелерді бақылауға және жинақтау желісіндегі қор тапшылығын болжауға арналған цифрлық егіз прототипі.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499842"/>
            <a:ext cx="5151834" cy="3271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DejaVu Sans"/>
              </a:defRPr>
            </a:pPr>
            <a:r>
              <a:t>Zhubanov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893641"/>
            <a:ext cx="5151834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BDC9D6"/>
                </a:solidFill>
                <a:latin typeface="DejaVu Sans"/>
              </a:defRPr>
            </a:pPr>
            <a:r>
              <a:t>Жұбанов университеті</a:t>
            </a:r>
          </a:p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BDC9D6"/>
                </a:solidFill>
                <a:latin typeface="DejaVu Sans"/>
              </a:defRPr>
            </a:pPr>
            <a:r>
              <a:t>Ақтөбе қаласы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7259" y="3499842"/>
            <a:ext cx="4735115" cy="8286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BDC9D6"/>
                </a:solidFill>
                <a:latin typeface="DejaVu Sans"/>
              </a:defRPr>
            </a:pPr>
            <a:r>
              <a:t>Капитан: Бижан Әлижан</a:t>
            </a:r>
          </a:p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BDC9D6"/>
                </a:solidFill>
                <a:latin typeface="DejaVu Sans"/>
              </a:defRPr>
            </a:pPr>
            <a:r>
              <a:t>Қатысушылар: Қанымбек Марат</a:t>
            </a:r>
          </a:p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BDC9D6"/>
                </a:solidFill>
                <a:latin typeface="DejaVu Sans"/>
              </a:defRPr>
            </a:pPr>
            <a:r>
              <a:t>Құлтас Баубек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836616"/>
            <a:ext cx="3159323" cy="361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9AA0"/>
                </a:solidFill>
                <a:latin typeface="DejaVu Sans"/>
              </a:defRPr>
            </a:pPr>
            <a:r>
              <a:t>Жұмыс істейтін React-прототип · v0.9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6496050"/>
            <a:ext cx="2226766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99B"/>
                </a:solidFill>
                <a:latin typeface="DejaVu Sans"/>
              </a:defRPr>
            </a:pPr>
            <a:r>
              <a:t>ALLUR PLANT TWIN · ZHUBANOV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18366" y="6496050"/>
            <a:ext cx="40213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99B"/>
                </a:solidFill>
                <a:latin typeface="DejaVu San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2330499"/>
            <a:ext cx="3555950" cy="236041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17950" y="2330499"/>
            <a:ext cx="3555950" cy="236041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64400" y="2330499"/>
            <a:ext cx="3556099" cy="236041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75" b="1">
                <a:solidFill>
                  <a:srgbClr val="B62B38"/>
                </a:solidFill>
                <a:latin typeface="DejaVu Sans"/>
              </a:defRPr>
            </a:pPr>
            <a:r>
              <a:t>МӘСЕЛЕ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14375"/>
            <a:ext cx="11049000" cy="4799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329"/>
              </a:lnSpc>
              <a:spcBef>
                <a:spcPts val="0"/>
              </a:spcBef>
              <a:spcAft>
                <a:spcPts val="0"/>
              </a:spcAft>
              <a:defRPr sz="2775" b="1">
                <a:solidFill>
                  <a:srgbClr val="192330"/>
                </a:solidFill>
                <a:latin typeface="DejaVu Sans"/>
              </a:defRPr>
            </a:pPr>
            <a:r>
              <a:t>Бір учаскедегі кідіріс бүкіл ағынға әсер етеді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346745"/>
            <a:ext cx="9906000" cy="7361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673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546373"/>
                </a:solidFill>
                <a:latin typeface="DejaVu Sans"/>
              </a:defRPr>
            </a:pPr>
            <a:r>
              <a:t>Бөлшектердің жеткізілуі баяуласа, жинақтау желісі қор таусылғанда тоқтайды. Операторға жағдайды ертерек байқап, әрекет етуге қалған уақытты білу қажет.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2578149"/>
            <a:ext cx="3060650" cy="56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959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BD2B39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252489"/>
            <a:ext cx="3060650" cy="3271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92330"/>
                </a:solidFill>
                <a:latin typeface="DejaVu Sans"/>
              </a:defRPr>
            </a:pPr>
            <a:r>
              <a:t>Ортақ көрініс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3646289"/>
            <a:ext cx="3060650" cy="8541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373"/>
                </a:solidFill>
                <a:latin typeface="DejaVu Sans"/>
              </a:defRPr>
            </a:pPr>
            <a:r>
              <a:t>Өнім шығару, жүктеме, бос тұру және сапа көрсеткіштері бір панельде.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5600" y="2578149"/>
            <a:ext cx="3060650" cy="56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959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BD2B39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5600" y="3252489"/>
            <a:ext cx="3060650" cy="3271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92330"/>
                </a:solidFill>
                <a:latin typeface="DejaVu Sans"/>
              </a:defRPr>
            </a:pPr>
            <a:r>
              <a:t>Түсінікті себеп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600" y="3646289"/>
            <a:ext cx="3060650" cy="8541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373"/>
                </a:solidFill>
                <a:latin typeface="DejaVu Sans"/>
              </a:defRPr>
            </a:pPr>
            <a:r>
              <a:t>Инцидент, зардап шеккен учаске және оператор әрекеті өзара байланысады.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2050" y="2578149"/>
            <a:ext cx="3060799" cy="56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959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BD2B39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2050" y="3252489"/>
            <a:ext cx="3060799" cy="3271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92330"/>
                </a:solidFill>
                <a:latin typeface="DejaVu Sans"/>
              </a:defRPr>
            </a:pPr>
            <a:r>
              <a:t>Әрекет ету уақыты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2050" y="3646289"/>
            <a:ext cx="3060799" cy="5884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373"/>
                </a:solidFill>
                <a:latin typeface="DejaVu Sans"/>
              </a:defRPr>
            </a:pPr>
            <a:r>
              <a:t>Қор қанша уақытқа жетеді және оны қашан толықтырған тиімді?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929038"/>
            <a:ext cx="11049000" cy="470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627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46373"/>
                </a:solidFill>
                <a:latin typeface="DejaVu Sans"/>
              </a:defRPr>
            </a:pPr>
            <a:r>
              <a:t>Нысаналы пайдаланушылар: ауысым басшысы, логистика диспетчері, өндіріс инженері. Бұл — кейске негізделген гипотеза; Allur қызметкерлерімен сұхбат жүргізілген жоқ.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6496050"/>
            <a:ext cx="3283446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99B"/>
                </a:solidFill>
                <a:latin typeface="DejaVu Sans"/>
              </a:defRPr>
            </a:pPr>
            <a:r>
              <a:t>Негізі: ресми №2 кейс · Демо деректері синтетикалық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18366" y="6496050"/>
            <a:ext cx="40213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99B"/>
                </a:solidFill>
                <a:latin typeface="DejaVu San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346745"/>
            <a:ext cx="7162800" cy="4476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19100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75" b="1">
                <a:solidFill>
                  <a:srgbClr val="B62B38"/>
                </a:solidFill>
                <a:latin typeface="DejaVu Sans"/>
              </a:defRPr>
            </a:pPr>
            <a:r>
              <a:t>ЖҰМЫС ІСТЕЙТІН ӨНІМ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714375"/>
            <a:ext cx="11049000" cy="4799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329"/>
              </a:lnSpc>
              <a:spcBef>
                <a:spcPts val="0"/>
              </a:spcBef>
              <a:spcAft>
                <a:spcPts val="0"/>
              </a:spcAft>
              <a:defRPr sz="2775" b="1">
                <a:solidFill>
                  <a:srgbClr val="192330"/>
                </a:solidFill>
                <a:latin typeface="DejaVu Sans"/>
              </a:defRPr>
            </a:pPr>
            <a:r>
              <a:t>Өндірістің жағдайы — бір экранда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18745"/>
            <a:ext cx="1104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46373"/>
                </a:solidFill>
                <a:latin typeface="DejaVu Sans"/>
              </a:defRPr>
            </a:pPr>
            <a:r>
              <a:t>Жобаның нақты скриншоты: жеті бөлім, учаскелер картасы, ауысым көрсеткіштері және оператор әрекеттері. Интерфейс қазір орыс тілінде; слайдтар қазақ тілінде.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6496050"/>
            <a:ext cx="3295501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99B"/>
                </a:solidFill>
                <a:latin typeface="DejaVu Sans"/>
              </a:defRPr>
            </a:pPr>
            <a:r>
              <a:t>React 19 · Vite 8 · Жергілікті жұмыс · Авторлық дизайн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18366" y="6496050"/>
            <a:ext cx="40213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99B"/>
                </a:solidFill>
                <a:latin typeface="DejaVu San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5166270"/>
            <a:ext cx="11049000" cy="657225"/>
          </a:xfrm>
          <a:prstGeom prst="roundRect">
            <a:avLst/>
          </a:prstGeom>
          <a:solidFill>
            <a:srgbClr val="FF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ocess-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270" y="1346745"/>
            <a:ext cx="8011458" cy="3648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19100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75" b="1">
                <a:solidFill>
                  <a:srgbClr val="B62B38"/>
                </a:solidFill>
                <a:latin typeface="DejaVu Sans"/>
              </a:defRPr>
            </a:pPr>
            <a:r>
              <a:t>ТҮСІНДІРУГЕ БОЛАТЫН БОЛЖАМ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14375"/>
            <a:ext cx="11049000" cy="4799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329"/>
              </a:lnSpc>
              <a:spcBef>
                <a:spcPts val="0"/>
              </a:spcBef>
              <a:spcAft>
                <a:spcPts val="0"/>
              </a:spcAft>
              <a:defRPr sz="2775" b="1">
                <a:solidFill>
                  <a:srgbClr val="192330"/>
                </a:solidFill>
                <a:latin typeface="DejaVu Sans"/>
              </a:defRPr>
            </a:pPr>
            <a:r>
              <a:t>Қор 45 минуттан кейін таусылады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166270"/>
            <a:ext cx="1104900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A32534"/>
                </a:solidFill>
                <a:latin typeface="DejaVu Sans"/>
              </a:defRPr>
            </a:pPr>
            <a:r>
              <a:t>12 жиынтық ÷ (20 − 4) жиынтық/сағ × 60 = 45 минут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918745"/>
            <a:ext cx="1104900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46373"/>
                </a:solidFill>
                <a:latin typeface="DejaVu Sans"/>
              </a:defRPr>
            </a:pPr>
            <a:r>
              <a:t>Қор: 12 жиынтық · Шығын: 20/сағ · Жеткізу: 4/сағ. Ағын өзгермесе, желі тоқтайды. Карта — зауыттың нақты жоспары емес, шартты схема.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6496050"/>
            <a:ext cx="323477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99B"/>
                </a:solidFill>
                <a:latin typeface="DejaVu Sans"/>
              </a:defRPr>
            </a:pPr>
            <a:r>
              <a:t>Логистика → бөлшектер қоры → финалдық жинақтау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18366" y="6496050"/>
            <a:ext cx="40213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99B"/>
                </a:solidFill>
                <a:latin typeface="DejaVu San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1346745"/>
            <a:ext cx="5410200" cy="431631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1346745"/>
            <a:ext cx="5410200" cy="431631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419100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75" b="1">
                <a:solidFill>
                  <a:srgbClr val="B62B38"/>
                </a:solidFill>
                <a:latin typeface="DejaVu Sans"/>
              </a:defRPr>
            </a:pPr>
            <a:r>
              <a:t>ЖАСАНДЫ ИНТЕЛЛЕКТ ЖӘНЕ ДЕРЕКТЕР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14375"/>
            <a:ext cx="11049000" cy="4799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329"/>
              </a:lnSpc>
              <a:spcBef>
                <a:spcPts val="0"/>
              </a:spcBef>
              <a:spcAft>
                <a:spcPts val="0"/>
              </a:spcAft>
              <a:defRPr sz="2775" b="1">
                <a:solidFill>
                  <a:srgbClr val="192330"/>
                </a:solidFill>
                <a:latin typeface="DejaVu Sans"/>
              </a:defRPr>
            </a:pPr>
            <a:r>
              <a:t>Болжамның сапасы мен шектеуі ашық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1594395"/>
            <a:ext cx="4914900" cy="56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959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BD2B39"/>
                </a:solidFill>
                <a:latin typeface="DejaVu Sans"/>
              </a:defRPr>
            </a:pPr>
            <a:r>
              <a:t>64 ағаш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2268735"/>
            <a:ext cx="4914900" cy="3271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92330"/>
                </a:solidFill>
                <a:latin typeface="DejaVu Sans"/>
              </a:defRPr>
            </a:pPr>
            <a:r>
              <a:t>Қор тапшылығын болжау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2662535"/>
            <a:ext cx="4914900" cy="11197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373"/>
                </a:solidFill>
                <a:latin typeface="DejaVu Sans"/>
              </a:defRPr>
            </a:pPr>
            <a:r>
              <a:t>Кездейсоқ орман 60 минут ішінде қордың таусылу қаупін бағалайды. 600 синтетикалық ауысым жасалған; 119 ауысым бағалау үшін бөлек қалдырылған.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915667"/>
            <a:ext cx="4914900" cy="5884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373"/>
                </a:solidFill>
                <a:latin typeface="DejaVu Sans"/>
              </a:defRPr>
            </a:pPr>
            <a:r>
              <a:t>Толықтық: 90,2%</a:t>
            </a:r>
          </a:p>
          <a:p>
            <a:pPr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373"/>
                </a:solidFill>
                <a:latin typeface="DejaVu Sans"/>
              </a:defRPr>
            </a:pPr>
            <a:r>
              <a:t>Оң болжамдардың дәлдігі: 72,6%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4618434"/>
            <a:ext cx="4914900" cy="8541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373"/>
                </a:solidFill>
                <a:latin typeface="DejaVu Sans"/>
              </a:defRPr>
            </a:pPr>
            <a:r>
              <a:t>F1 бойынша қарапайым баланс әдісі жақсырақ. ML моделі қосымша сигнал береді; Allur тарихында тексерілмеген.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7950" y="1594395"/>
            <a:ext cx="4914900" cy="56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959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BD2B39"/>
                </a:solidFill>
                <a:latin typeface="DejaVu Sans"/>
              </a:defRPr>
            </a:pPr>
            <a:r>
              <a:t>Scania 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7950" y="2268735"/>
            <a:ext cx="4914900" cy="3271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92330"/>
                </a:solidFill>
                <a:latin typeface="DejaVu Sans"/>
              </a:defRPr>
            </a:pPr>
            <a:r>
              <a:t>Ашық нақты деректер модулі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7950" y="2662535"/>
            <a:ext cx="4914900" cy="8541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373"/>
                </a:solidFill>
                <a:latin typeface="DejaVu Sans"/>
              </a:defRPr>
            </a:pPr>
            <a:r>
              <a:t>Бөлек диагностика APS ақауын басқа компонент ақауынан ажыратады. Үйрету: 48 000, баптау: 12 000, бағалау: 16 000 жазба.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7950" y="3650009"/>
            <a:ext cx="4914900" cy="5884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373"/>
                </a:solidFill>
                <a:latin typeface="DejaVu Sans"/>
              </a:defRPr>
            </a:pPr>
            <a:r>
              <a:t>Толықтық: 97,1%</a:t>
            </a:r>
          </a:p>
          <a:p>
            <a:pPr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373"/>
                </a:solidFill>
                <a:latin typeface="DejaVu Sans"/>
              </a:defRPr>
            </a:pPr>
            <a:r>
              <a:t>Оң болжамдардың дәлдігі: 41,7%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7950" y="4352776"/>
            <a:ext cx="4914900" cy="8541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373"/>
                </a:solidFill>
                <a:latin typeface="DejaVu Sans"/>
              </a:defRPr>
            </a:pPr>
            <a:r>
              <a:t>Болашақ ақаудың уақытын болжамайды. Теріс класс көліктің ақаусыз екенін білдірмейді. Allur-ға жарамдылығы бағаланбаған.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6496050"/>
            <a:ext cx="4571702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99B"/>
                </a:solidFill>
                <a:latin typeface="DejaVu Sans"/>
              </a:defRPr>
            </a:pPr>
            <a:r>
              <a:t>Scania CV AB · UCI APS Failure · GPL-3.0-or-later · Зауыт моделі синтетикалық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18366" y="6496050"/>
            <a:ext cx="40213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99B"/>
                </a:solidFill>
                <a:latin typeface="DejaVu San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1346745"/>
            <a:ext cx="3568600" cy="124479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11550" y="1346745"/>
            <a:ext cx="3568749" cy="124479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750" y="1346745"/>
            <a:ext cx="3568600" cy="124479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409" y="2772519"/>
            <a:ext cx="7945181" cy="2762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19100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75" b="1">
                <a:solidFill>
                  <a:srgbClr val="B62B38"/>
                </a:solidFill>
                <a:latin typeface="DejaVu Sans"/>
              </a:defRPr>
            </a:pPr>
            <a:r>
              <a:t>«ЕГЕР ... БОЛСА?» ТАЛДАУЫ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714375"/>
            <a:ext cx="11049000" cy="4799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329"/>
              </a:lnSpc>
              <a:spcBef>
                <a:spcPts val="0"/>
              </a:spcBef>
              <a:spcAft>
                <a:spcPts val="0"/>
              </a:spcAft>
              <a:defRPr sz="2775" b="1">
                <a:solidFill>
                  <a:srgbClr val="192330"/>
                </a:solidFill>
                <a:latin typeface="DejaVu Sans"/>
              </a:defRPr>
            </a:pPr>
            <a:r>
              <a:t>Ерте әрекет өндіріс уақытын сақтайды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1546770"/>
            <a:ext cx="3092350" cy="56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959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BD2B39"/>
                </a:solidFill>
                <a:latin typeface="DejaVu Sans"/>
              </a:defRPr>
            </a:pPr>
            <a:r>
              <a:t>30 мин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2125860"/>
            <a:ext cx="3092350" cy="322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373"/>
                </a:solidFill>
                <a:latin typeface="DejaVu Sans"/>
              </a:defRPr>
            </a:pPr>
            <a:r>
              <a:t>толықтыру уақыты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9675" y="1546770"/>
            <a:ext cx="3092499" cy="56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959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BD2B39"/>
                </a:solidFill>
                <a:latin typeface="DejaVu Sans"/>
              </a:defRPr>
            </a:pPr>
            <a:r>
              <a:t>75 мин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9675" y="2125860"/>
            <a:ext cx="3092499" cy="322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373"/>
                </a:solidFill>
                <a:latin typeface="DejaVu Sans"/>
              </a:defRPr>
            </a:pPr>
            <a:r>
              <a:t>алдын алынған бос тұру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9875" y="1546770"/>
            <a:ext cx="3092350" cy="56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959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BD2B39"/>
                </a:solidFill>
                <a:latin typeface="DejaVu Sans"/>
              </a:defRPr>
            </a:pPr>
            <a:r>
              <a:t>≈25 авто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9875" y="2125860"/>
            <a:ext cx="3092350" cy="322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373"/>
                </a:solidFill>
                <a:latin typeface="DejaVu Sans"/>
              </a:defRPr>
            </a:pPr>
            <a:r>
              <a:t>қосымша модельдік өнім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5630019"/>
            <a:ext cx="1104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46373"/>
                </a:solidFill>
                <a:latin typeface="DejaVu Sans"/>
              </a:defRPr>
            </a:pPr>
            <a:r>
              <a:t>Бірдей бастапқы деректер, 120 минуттық көкжиек. 30-минутта +30 жиынтық қосылып, жеткізу 21/сағ болады. Нәтиже — симуляция; Allur-дың өлшенген тиімділігі емес.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6496050"/>
            <a:ext cx="340042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99B"/>
                </a:solidFill>
                <a:latin typeface="DejaVu Sans"/>
              </a:defRPr>
            </a:pPr>
            <a:r>
              <a:t>Үзік сызық — әрекетсіз · Қызыл сызық — толықтырумен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18366" y="6496050"/>
            <a:ext cx="40213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99B"/>
                </a:solidFill>
                <a:latin typeface="DejaVu San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5212705"/>
            <a:ext cx="11049000" cy="628650"/>
          </a:xfrm>
          <a:prstGeom prst="roundRect">
            <a:avLst/>
          </a:prstGeom>
          <a:solidFill>
            <a:srgbClr val="FF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nomics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041" y="2059930"/>
            <a:ext cx="8723916" cy="3000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19100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75" b="1">
                <a:solidFill>
                  <a:srgbClr val="B62B38"/>
                </a:solidFill>
                <a:latin typeface="DejaVu Sans"/>
              </a:defRPr>
            </a:pPr>
            <a:r>
              <a:t>ШАРТТЫ ЭКОНОМИКАЛЫҚ ЕСЕП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14375"/>
            <a:ext cx="11049000" cy="4799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329"/>
              </a:lnSpc>
              <a:spcBef>
                <a:spcPts val="0"/>
              </a:spcBef>
              <a:spcAft>
                <a:spcPts val="0"/>
              </a:spcAft>
              <a:defRPr sz="2775" b="1">
                <a:solidFill>
                  <a:srgbClr val="192330"/>
                </a:solidFill>
                <a:latin typeface="DejaVu Sans"/>
              </a:defRPr>
            </a:pPr>
            <a:r>
              <a:t>Шешімнің құнын оператор бағалайды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346745"/>
            <a:ext cx="11049000" cy="6179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546373"/>
                </a:solidFill>
                <a:latin typeface="DejaVu Sans"/>
              </a:defRPr>
            </a:pPr>
            <a:r>
              <a:t>Мысалдағы жорамал: бос тұру — 100 000 ₸/сағ, толықтыру — 20 000 ₸. 30-минуттағы әрекет 75 минут бос тұрудың алдын алады.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212705"/>
            <a:ext cx="11049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A32534"/>
                </a:solidFill>
                <a:latin typeface="DejaVu Sans"/>
              </a:defRPr>
            </a:pPr>
            <a:r>
              <a:t>75 ÷ 60 × 100 000 − 20 000 = +105 000 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936605"/>
            <a:ext cx="1104900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46373"/>
                </a:solidFill>
                <a:latin typeface="DejaVu Sans"/>
              </a:defRPr>
            </a:pPr>
            <a:r>
              <a:t>Ставкалар бастапқыда бос. Бұл Allur бағасы немесе нақты үнем емес. Салықтар, белгісіздік және барлық енгізу шығындары есепке алынбайды.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496050"/>
            <a:ext cx="459491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99B"/>
                </a:solidFill>
                <a:latin typeface="DejaVu Sans"/>
              </a:defRPr>
            </a:pPr>
            <a:r>
              <a:t>Өтелу шегі: осы сценарийде 16 000 ₸/сағ · Жорамалдар JSON-ға сақталады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18366" y="6496050"/>
            <a:ext cx="40213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99B"/>
                </a:solidFill>
                <a:latin typeface="DejaVu San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1365795"/>
            <a:ext cx="2476500" cy="82569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29000" y="1365795"/>
            <a:ext cx="2476500" cy="82569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86500" y="1365795"/>
            <a:ext cx="2476500" cy="82569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365795"/>
            <a:ext cx="2476500" cy="82569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sv-im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485" y="2420094"/>
            <a:ext cx="3557984" cy="3105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19100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75" b="1">
                <a:solidFill>
                  <a:srgbClr val="B62B38"/>
                </a:solidFill>
                <a:latin typeface="DejaVu Sans"/>
              </a:defRPr>
            </a:pPr>
            <a:r>
              <a:t>АРХИТЕКТУРА ЖӘНЕ ДЕРЕКТЕР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714375"/>
            <a:ext cx="11049000" cy="4799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329"/>
              </a:lnSpc>
              <a:spcBef>
                <a:spcPts val="0"/>
              </a:spcBef>
              <a:spcAft>
                <a:spcPts val="0"/>
              </a:spcAft>
              <a:defRPr sz="2775" b="1">
                <a:solidFill>
                  <a:srgbClr val="192330"/>
                </a:solidFill>
                <a:latin typeface="DejaVu Sans"/>
              </a:defRPr>
            </a:pPr>
            <a:r>
              <a:t>Дерек жүктеуден оператор шешіміне дейін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1365795"/>
            <a:ext cx="2476500" cy="882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92330"/>
                </a:solidFill>
                <a:latin typeface="DejaVu Sans"/>
              </a:defRPr>
            </a:pPr>
            <a:r>
              <a:t>CSV / JSON</a:t>
            </a:r>
          </a:p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92330"/>
                </a:solidFill>
                <a:latin typeface="DejaVu Sans"/>
              </a:defRPr>
            </a:pPr>
            <a:r>
              <a:t>немесе симуляция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4200" y="1635769"/>
            <a:ext cx="2286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BC2938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365795"/>
            <a:ext cx="2476500" cy="882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92330"/>
                </a:solidFill>
                <a:latin typeface="DejaVu Sans"/>
              </a:defRPr>
            </a:pPr>
            <a:r>
              <a:t>Тексеру</a:t>
            </a:r>
          </a:p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92330"/>
                </a:solidFill>
                <a:latin typeface="DejaVu Sans"/>
              </a:defRPr>
            </a:pPr>
            <a:r>
              <a:t>4 учаске, шектер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1700" y="1635769"/>
            <a:ext cx="2286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BC2938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0" y="1365795"/>
            <a:ext cx="2476500" cy="882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92330"/>
                </a:solidFill>
                <a:latin typeface="DejaVu Sans"/>
              </a:defRPr>
            </a:pPr>
            <a:r>
              <a:t>Есеп пен ML</a:t>
            </a:r>
          </a:p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92330"/>
                </a:solidFill>
                <a:latin typeface="DejaVu Sans"/>
              </a:defRPr>
            </a:pPr>
            <a:r>
              <a:t>KPI, қор, тәуекел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9200" y="1635769"/>
            <a:ext cx="2286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BC2938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365795"/>
            <a:ext cx="2476500" cy="882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92330"/>
                </a:solidFill>
                <a:latin typeface="DejaVu Sans"/>
              </a:defRPr>
            </a:pPr>
            <a:r>
              <a:t>Оператор</a:t>
            </a:r>
          </a:p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92330"/>
                </a:solidFill>
                <a:latin typeface="DejaVu Sans"/>
              </a:defRPr>
            </a:pPr>
            <a:r>
              <a:t>әрекет, есеп, экспорт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6055" y="2639615"/>
            <a:ext cx="4604444" cy="3271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92330"/>
                </a:solidFill>
                <a:latin typeface="DejaVu Sans"/>
              </a:defRPr>
            </a:pPr>
            <a:r>
              <a:t>Жергілікті әрі тексерілетін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6055" y="3033414"/>
            <a:ext cx="4604444" cy="6179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546373"/>
                </a:solidFill>
                <a:latin typeface="DejaVu Sans"/>
              </a:defRPr>
            </a:pPr>
            <a:r>
              <a:t>CSV: Papa Parse 5.5.3, MIT. Бос не қате мәндер қабылданбайды; файл шегі — 1 МБ.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6055" y="3746599"/>
            <a:ext cx="4604444" cy="8983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546373"/>
                </a:solidFill>
                <a:latin typeface="DejaVu Sans"/>
              </a:defRPr>
            </a:pPr>
            <a:r>
              <a:t>Импортталған тоқтау күйі сақталады. Синтетикалық ML кәсіпорын деректеріне автоматты түрде қолданылмайды.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6055" y="4740175"/>
            <a:ext cx="4604444" cy="470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627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46373"/>
                </a:solidFill>
                <a:latin typeface="DejaVu Sans"/>
              </a:defRPr>
            </a:pPr>
            <a:r>
              <a:t>MES/ERP байланысы, ортақ серверлік тарих және рөлдер — пилоттың келесі кезеңі.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6496050"/>
            <a:ext cx="4166592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99B"/>
                </a:solidFill>
                <a:latin typeface="DejaVu Sans"/>
              </a:defRPr>
            </a:pPr>
            <a:r>
              <a:t>CSV / JSON / TXT экспорт · Браузердегі есептеу · API кілті қажет емес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18366" y="6496050"/>
            <a:ext cx="40213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99B"/>
                </a:solidFill>
                <a:latin typeface="DejaVu San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1346745"/>
            <a:ext cx="3568600" cy="124479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11550" y="1346745"/>
            <a:ext cx="3568749" cy="124479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750" y="1346745"/>
            <a:ext cx="3568600" cy="124479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2820144"/>
            <a:ext cx="5410200" cy="206067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2820144"/>
            <a:ext cx="5410200" cy="206067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419100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75" b="1">
                <a:solidFill>
                  <a:srgbClr val="B62B38"/>
                </a:solidFill>
                <a:latin typeface="DejaVu Sans"/>
              </a:defRPr>
            </a:pPr>
            <a:r>
              <a:t>ТЕКСЕРУ ЖӘНЕ КЕЛЕСІ ҚАДАМ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714375"/>
            <a:ext cx="11049000" cy="4799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329"/>
              </a:lnSpc>
              <a:spcBef>
                <a:spcPts val="0"/>
              </a:spcBef>
              <a:spcAft>
                <a:spcPts val="0"/>
              </a:spcAft>
              <a:defRPr sz="2775" b="1">
                <a:solidFill>
                  <a:srgbClr val="192330"/>
                </a:solidFill>
                <a:latin typeface="DejaVu Sans"/>
              </a:defRPr>
            </a:pPr>
            <a:r>
              <a:t>Прототип тексерілді. Пилотқа дерек қажет.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1546770"/>
            <a:ext cx="3092350" cy="56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959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BD2B39"/>
                </a:solidFill>
                <a:latin typeface="DejaVu Sans"/>
              </a:defRPr>
            </a:pPr>
            <a:r>
              <a:t>26 / 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125860"/>
            <a:ext cx="3092350" cy="322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373"/>
                </a:solidFill>
                <a:latin typeface="DejaVu Sans"/>
              </a:defRPr>
            </a:pPr>
            <a:r>
              <a:t>автоматты тест өтті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9675" y="1546770"/>
            <a:ext cx="3092499" cy="56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959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BD2B39"/>
                </a:solidFill>
                <a:latin typeface="DejaVu Sans"/>
              </a:defRPr>
            </a:pPr>
            <a: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9675" y="2125860"/>
            <a:ext cx="3092499" cy="322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373"/>
                </a:solidFill>
                <a:latin typeface="DejaVu Sans"/>
              </a:defRPr>
            </a:pPr>
            <a:r>
              <a:t>браузерлік сценарий тобы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9875" y="1546770"/>
            <a:ext cx="3092350" cy="56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959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BD2B39"/>
                </a:solidFill>
                <a:latin typeface="DejaVu Sans"/>
              </a:defRPr>
            </a:pPr>
            <a:r>
              <a:t>3 өлшем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9875" y="2125860"/>
            <a:ext cx="3092350" cy="322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373"/>
                </a:solidFill>
                <a:latin typeface="DejaVu Sans"/>
              </a:defRPr>
            </a:pPr>
            <a:r>
              <a:t>390 / 768 / 1440 px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3067794"/>
            <a:ext cx="4914900" cy="3271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92330"/>
                </a:solidFill>
                <a:latin typeface="DejaVu Sans"/>
              </a:defRPr>
            </a:pPr>
            <a:r>
              <a:t>Қазір көрсетуге болады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" y="3461593"/>
            <a:ext cx="49149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373"/>
                </a:solidFill>
                <a:latin typeface="DejaVu Sans"/>
              </a:defRPr>
            </a:pPr>
            <a:r>
              <a:t>Тоқтау → толықтыру → қалпына келу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" y="3852118"/>
            <a:ext cx="49149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373"/>
                </a:solidFill>
                <a:latin typeface="DejaVu Sans"/>
              </a:defRPr>
            </a:pPr>
            <a:r>
              <a:t>CSV/JSON, есеп және сценарий салыстыру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4242643"/>
            <a:ext cx="49149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373"/>
                </a:solidFill>
                <a:latin typeface="DejaVu Sans"/>
              </a:defRPr>
            </a:pPr>
            <a:r>
              <a:t>Болжам мен экономикалық жорамалдар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7950" y="3067794"/>
            <a:ext cx="4914900" cy="3271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92330"/>
                </a:solidFill>
                <a:latin typeface="DejaVu Sans"/>
              </a:defRPr>
            </a:pPr>
            <a:r>
              <a:t>Пилотқа қажет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7950" y="3461593"/>
            <a:ext cx="49149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373"/>
                </a:solidFill>
                <a:latin typeface="DejaVu Sans"/>
              </a:defRPr>
            </a:pPr>
            <a:r>
              <a:t>Нақты ағындар, нормативтер және тарих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7950" y="3852118"/>
            <a:ext cx="49149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373"/>
                </a:solidFill>
                <a:latin typeface="DejaVu Sans"/>
              </a:defRPr>
            </a:pPr>
            <a:r>
              <a:t>Жалған дабыл мен өткізіп алуды бағалау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7950" y="4242643"/>
            <a:ext cx="4914900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373"/>
                </a:solidFill>
                <a:latin typeface="DejaVu Sans"/>
              </a:defRPr>
            </a:pPr>
            <a:r>
              <a:t>Бір дерек көзін қосу, қолжетімділік, журнал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5042743"/>
            <a:ext cx="11049000" cy="470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627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46373"/>
                </a:solidFill>
                <a:latin typeface="DejaVu Sans"/>
              </a:defRPr>
            </a:pPr>
            <a:r>
              <a:t>ThingsBoard, Ditto, Grafana және Node-RED құжаттары салыстырылды. Нарық көлемі, сұраныс және баға тексерілмеген; олардың коды жобаға көшірілмеген.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6496050"/>
            <a:ext cx="513263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99B"/>
                </a:solidFill>
                <a:latin typeface="DejaVu Sans"/>
              </a:defRPr>
            </a:pPr>
            <a:r>
              <a:t>Тексеру: v0.9 · Модель салмақтары өзгермеді · Өндірістік дайындық дәлелденбеген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18366" y="6496050"/>
            <a:ext cx="40213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99B"/>
                </a:solidFill>
                <a:latin typeface="DejaVu San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D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3271242"/>
            <a:ext cx="11049000" cy="1772840"/>
          </a:xfrm>
          <a:prstGeom prst="roundRect">
            <a:avLst/>
          </a:prstGeom>
          <a:solidFill>
            <a:srgbClr val="20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419100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75" b="1">
                <a:solidFill>
                  <a:srgbClr val="FF7C84"/>
                </a:solidFill>
                <a:latin typeface="DejaVu Sans"/>
              </a:defRPr>
            </a:pPr>
            <a:r>
              <a:t>ZHUBANOV TEAM · ЖҰБАНОВ УНИВЕРСИТЕТІ · АҚТӨБЕ ҚАЛАСЫ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885825"/>
            <a:ext cx="10477500" cy="13159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4956"/>
              </a:lnSpc>
              <a:spcBef>
                <a:spcPts val="0"/>
              </a:spcBef>
              <a:spcAft>
                <a:spcPts val="0"/>
              </a:spcAft>
              <a:defRPr sz="4425" b="1">
                <a:solidFill>
                  <a:srgbClr val="FFFFFF"/>
                </a:solidFill>
                <a:latin typeface="DejaVu Sans"/>
              </a:defRPr>
            </a:pPr>
            <a:r>
              <a:t>Көріну → болжам →</a:t>
            </a:r>
          </a:p>
          <a:p>
            <a:pPr>
              <a:lnSpc>
                <a:spcPts val="4956"/>
              </a:lnSpc>
              <a:spcBef>
                <a:spcPts val="0"/>
              </a:spcBef>
              <a:spcAft>
                <a:spcPts val="0"/>
              </a:spcAft>
              <a:defRPr sz="4425" b="1">
                <a:solidFill>
                  <a:srgbClr val="FFFFFF"/>
                </a:solidFill>
                <a:latin typeface="DejaVu Sans"/>
              </a:defRPr>
            </a:pPr>
            <a:r>
              <a:t>уақтылы әрекет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35113"/>
            <a:ext cx="9906000" cy="7361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673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BDC9D6"/>
                </a:solidFill>
                <a:latin typeface="DejaVu Sans"/>
              </a:defRPr>
            </a:pPr>
            <a:r>
              <a:t>Allur Plant Twin қор тапшылығын түсіндіреді, әрекет ету уақытын салыстырады және шешімнің шартты құнын көрсетеді.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3518892"/>
            <a:ext cx="10553700" cy="3271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DejaVu Sans"/>
              </a:defRPr>
            </a:pPr>
            <a:r>
              <a:t>Код және материалдар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912691"/>
            <a:ext cx="353437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979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9AA0"/>
                </a:solidFill>
                <a:latin typeface="DejaVu Sans"/>
              </a:defRPr>
            </a:pPr>
            <a:r>
              <a:t>github.com/Alizhan2/Kostanai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4265116"/>
            <a:ext cx="10553700" cy="5884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BDC9D6"/>
                </a:solidFill>
                <a:latin typeface="DejaVu Sans"/>
              </a:defRPr>
            </a:pPr>
            <a:r>
              <a:t>Капитан: Бижан Әлижан</a:t>
            </a:r>
          </a:p>
          <a:p>
            <a:pPr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BDC9D6"/>
                </a:solidFill>
                <a:latin typeface="DejaVu Sans"/>
              </a:defRPr>
            </a:pPr>
            <a:r>
              <a:t>Қатысушылар: Қанымбек Марат · Құлтас Баубек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272682"/>
            <a:ext cx="11049000" cy="470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627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BDC9D6"/>
                </a:solidFill>
                <a:latin typeface="DejaVu Sans"/>
              </a:defRPr>
            </a:pPr>
            <a:r>
              <a:t>Құралдар: OpenAI Codex — код, құжаттама, тексеру; Figma — дизайн жұмысы. Скриншоттар жұмыс істейтін прототиптен алынған. Зауыт симуляциясы синтетикалық, Scania диагностикасы — бөлек модуль.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6496050"/>
            <a:ext cx="3083421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99B"/>
                </a:solidFill>
                <a:latin typeface="DejaVu Sans"/>
              </a:defRPr>
            </a:pPr>
            <a:r>
              <a:t>QOSTANAI AI INDUSTRY HACKATHON 2026 · №2 КЕЙС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18366" y="6496050"/>
            <a:ext cx="40213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899B"/>
                </a:solidFill>
                <a:latin typeface="DejaVu San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